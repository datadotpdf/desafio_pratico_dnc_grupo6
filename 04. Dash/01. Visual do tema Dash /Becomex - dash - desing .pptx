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658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69441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6984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embrapa.br/busca-de-noticias/-/noticia/7575681/top-10-produtos-do-agro" TargetMode="External"/><Relationship Id="rId5" Type="http://schemas.openxmlformats.org/officeDocument/2006/relationships/hyperlink" Target="https://www.ibge.gov.br/geociencias/organizacao-do-territorio/divisao-regional/23701-divisao-territorial-brasileira.html" TargetMode="External"/><Relationship Id="rId4" Type="http://schemas.openxmlformats.org/officeDocument/2006/relationships/hyperlink" Target="https://sidra.ibge.gov.br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8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1800000">
            <a:off x="6757179" y="3098245"/>
            <a:ext cx="894662" cy="3513091"/>
          </a:xfrm>
          <a:prstGeom prst="roundRect">
            <a:avLst/>
          </a:prstGeom>
          <a:noFill/>
          <a:ln/>
        </p:spPr>
      </p:sp>
      <p:sp>
        <p:nvSpPr>
          <p:cNvPr id="3" name="Shape 1"/>
          <p:cNvSpPr/>
          <p:nvPr/>
        </p:nvSpPr>
        <p:spPr>
          <a:xfrm rot="-1800000">
            <a:off x="5299889" y="4455940"/>
            <a:ext cx="894662" cy="1303430"/>
          </a:xfrm>
          <a:prstGeom prst="roundRect">
            <a:avLst/>
          </a:prstGeom>
          <a:noFill/>
          <a:ln/>
        </p:spPr>
      </p:sp>
      <p:sp>
        <p:nvSpPr>
          <p:cNvPr id="4" name="Shape 2"/>
          <p:cNvSpPr/>
          <p:nvPr/>
        </p:nvSpPr>
        <p:spPr>
          <a:xfrm rot="-1800000">
            <a:off x="3830286" y="3623783"/>
            <a:ext cx="894662" cy="3559367"/>
          </a:xfrm>
          <a:prstGeom prst="roundRect">
            <a:avLst/>
          </a:prstGeom>
          <a:noFill/>
          <a:ln/>
        </p:spPr>
      </p:sp>
      <p:sp>
        <p:nvSpPr>
          <p:cNvPr id="5" name="Shape 3"/>
          <p:cNvSpPr/>
          <p:nvPr/>
        </p:nvSpPr>
        <p:spPr>
          <a:xfrm>
            <a:off x="1338263" y="3672024"/>
            <a:ext cx="9467850" cy="3024188"/>
          </a:xfrm>
          <a:prstGeom prst="rect">
            <a:avLst/>
          </a:prstGeom>
          <a:noFill/>
          <a:ln/>
        </p:spPr>
      </p:sp>
      <p:sp>
        <p:nvSpPr>
          <p:cNvPr id="6" name="Shape 4"/>
          <p:cNvSpPr/>
          <p:nvPr/>
        </p:nvSpPr>
        <p:spPr>
          <a:xfrm rot="-1800000">
            <a:off x="8363238" y="3877591"/>
            <a:ext cx="894662" cy="1974427"/>
          </a:xfrm>
          <a:prstGeom prst="roundRect">
            <a:avLst/>
          </a:prstGeom>
          <a:noFill/>
          <a:ln/>
        </p:spPr>
      </p:sp>
      <p:sp>
        <p:nvSpPr>
          <p:cNvPr id="7" name="Shape 5"/>
          <p:cNvSpPr/>
          <p:nvPr/>
        </p:nvSpPr>
        <p:spPr>
          <a:xfrm>
            <a:off x="-376237" y="-33338"/>
            <a:ext cx="7934325" cy="2909888"/>
          </a:xfrm>
          <a:prstGeom prst="rect">
            <a:avLst/>
          </a:prstGeom>
          <a:noFill/>
          <a:ln/>
        </p:spPr>
      </p:sp>
      <p:sp>
        <p:nvSpPr>
          <p:cNvPr id="8" name="Shape 6"/>
          <p:cNvSpPr/>
          <p:nvPr/>
        </p:nvSpPr>
        <p:spPr>
          <a:xfrm rot="-1737947">
            <a:off x="5111814" y="153766"/>
            <a:ext cx="888779" cy="1920569"/>
          </a:xfrm>
          <a:prstGeom prst="rect">
            <a:avLst/>
          </a:prstGeom>
          <a:noFill/>
          <a:ln/>
        </p:spPr>
      </p:sp>
      <p:sp>
        <p:nvSpPr>
          <p:cNvPr id="9" name="Shape 7"/>
          <p:cNvSpPr/>
          <p:nvPr/>
        </p:nvSpPr>
        <p:spPr>
          <a:xfrm rot="-1737947">
            <a:off x="3497621" y="-601201"/>
            <a:ext cx="888779" cy="3417263"/>
          </a:xfrm>
          <a:prstGeom prst="rect">
            <a:avLst/>
          </a:prstGeom>
          <a:noFill/>
          <a:ln/>
        </p:spPr>
      </p:sp>
      <p:sp>
        <p:nvSpPr>
          <p:cNvPr id="10" name="Shape 8"/>
          <p:cNvSpPr/>
          <p:nvPr/>
        </p:nvSpPr>
        <p:spPr>
          <a:xfrm rot="-1737947">
            <a:off x="2033571" y="714894"/>
            <a:ext cx="888779" cy="1267876"/>
          </a:xfrm>
          <a:prstGeom prst="rect">
            <a:avLst/>
          </a:prstGeom>
          <a:noFill/>
          <a:ln/>
        </p:spPr>
      </p:sp>
      <p:sp>
        <p:nvSpPr>
          <p:cNvPr id="11" name="Shape 9"/>
          <p:cNvSpPr/>
          <p:nvPr/>
        </p:nvSpPr>
        <p:spPr>
          <a:xfrm rot="-1737947">
            <a:off x="427894" y="-375827"/>
            <a:ext cx="888779" cy="3462276"/>
          </a:xfrm>
          <a:prstGeom prst="rect">
            <a:avLst/>
          </a:prstGeom>
          <a:noFill/>
          <a:ln/>
        </p:spPr>
      </p:sp>
      <p:sp>
        <p:nvSpPr>
          <p:cNvPr id="12" name="Shape 10"/>
          <p:cNvSpPr/>
          <p:nvPr/>
        </p:nvSpPr>
        <p:spPr>
          <a:xfrm rot="-1737947">
            <a:off x="-1213388" y="412170"/>
            <a:ext cx="888779" cy="1770525"/>
          </a:xfrm>
          <a:prstGeom prst="rect">
            <a:avLst/>
          </a:prstGeom>
          <a:noFill/>
          <a:ln/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0725" y="2314575"/>
            <a:ext cx="1633538" cy="2709863"/>
          </a:xfrm>
          <a:prstGeom prst="rect">
            <a:avLst/>
          </a:prstGeom>
        </p:spPr>
      </p:pic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8088" y="1423988"/>
            <a:ext cx="1509713" cy="3667125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917056" y="1870896"/>
            <a:ext cx="2453974" cy="4320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779"/>
              </a:lnSpc>
              <a:buNone/>
            </a:pPr>
            <a:r>
              <a:rPr lang="en-US" sz="1800" b="1" dirty="0">
                <a:solidFill>
                  <a:srgbClr val="40B553">
                    <a:alpha val="99000"/>
                  </a:srgbClr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Painel </a:t>
            </a:r>
            <a:r>
              <a:rPr lang="en-US" sz="1800" b="1" dirty="0" err="1">
                <a:solidFill>
                  <a:srgbClr val="40B553">
                    <a:alpha val="99000"/>
                  </a:srgbClr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analítico</a:t>
            </a:r>
            <a:r>
              <a:rPr lang="en-US" sz="1800" b="1" dirty="0">
                <a:solidFill>
                  <a:srgbClr val="40B553">
                    <a:alpha val="99000"/>
                  </a:srgbClr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 - SIDRA</a:t>
            </a:r>
            <a:endParaRPr lang="en-US" sz="1800" dirty="0"/>
          </a:p>
        </p:txBody>
      </p:sp>
      <p:sp>
        <p:nvSpPr>
          <p:cNvPr id="19" name="Text 12"/>
          <p:cNvSpPr/>
          <p:nvPr/>
        </p:nvSpPr>
        <p:spPr>
          <a:xfrm>
            <a:off x="1042988" y="4652963"/>
            <a:ext cx="1847850" cy="2333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484"/>
              </a:lnSpc>
              <a:buNone/>
            </a:pPr>
            <a:r>
              <a:rPr lang="en-US" sz="989" dirty="0">
                <a:solidFill>
                  <a:srgbClr val="FFFFFF">
                    <a:alpha val="99000"/>
                  </a:srgbClr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Acessar dashboard</a:t>
            </a:r>
            <a:endParaRPr lang="en-US" sz="989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28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6154" y="624359"/>
            <a:ext cx="3238500" cy="614363"/>
          </a:xfrm>
          <a:prstGeom prst="rect">
            <a:avLst/>
          </a:prstGeom>
          <a:noFill/>
          <a:ln/>
        </p:spPr>
      </p:sp>
      <p:sp>
        <p:nvSpPr>
          <p:cNvPr id="3" name="Shape 1"/>
          <p:cNvSpPr/>
          <p:nvPr/>
        </p:nvSpPr>
        <p:spPr>
          <a:xfrm>
            <a:off x="586154" y="1467321"/>
            <a:ext cx="3381375" cy="614363"/>
          </a:xfrm>
          <a:prstGeom prst="rect">
            <a:avLst/>
          </a:prstGeom>
          <a:noFill/>
          <a:ln/>
        </p:spPr>
      </p:sp>
      <p:sp>
        <p:nvSpPr>
          <p:cNvPr id="4" name="Shape 2"/>
          <p:cNvSpPr/>
          <p:nvPr/>
        </p:nvSpPr>
        <p:spPr>
          <a:xfrm>
            <a:off x="586154" y="3038946"/>
            <a:ext cx="3238500" cy="609600"/>
          </a:xfrm>
          <a:prstGeom prst="rect">
            <a:avLst/>
          </a:prstGeom>
          <a:noFill/>
          <a:ln/>
        </p:spPr>
      </p:sp>
      <p:sp>
        <p:nvSpPr>
          <p:cNvPr id="5" name="Shape 3"/>
          <p:cNvSpPr/>
          <p:nvPr/>
        </p:nvSpPr>
        <p:spPr>
          <a:xfrm>
            <a:off x="586154" y="2305521"/>
            <a:ext cx="3238500" cy="609600"/>
          </a:xfrm>
          <a:prstGeom prst="rect">
            <a:avLst/>
          </a:prstGeom>
          <a:noFill/>
          <a:ln/>
        </p:spPr>
      </p:sp>
      <p:grpSp>
        <p:nvGrpSpPr>
          <p:cNvPr id="20" name="Agrupar 19">
            <a:extLst>
              <a:ext uri="{FF2B5EF4-FFF2-40B4-BE49-F238E27FC236}">
                <a16:creationId xmlns:a16="http://schemas.microsoft.com/office/drawing/2014/main" id="{BAFD92D9-09DE-4158-9514-C89A630B68CB}"/>
              </a:ext>
            </a:extLst>
          </p:cNvPr>
          <p:cNvGrpSpPr/>
          <p:nvPr/>
        </p:nvGrpSpPr>
        <p:grpSpPr>
          <a:xfrm>
            <a:off x="7698624" y="4495801"/>
            <a:ext cx="942408" cy="542359"/>
            <a:chOff x="119063" y="4489538"/>
            <a:chExt cx="823913" cy="490538"/>
          </a:xfrm>
        </p:grpSpPr>
        <p:pic>
          <p:nvPicPr>
            <p:cNvPr id="7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9063" y="4489538"/>
              <a:ext cx="490538" cy="490538"/>
            </a:xfrm>
            <a:prstGeom prst="rect">
              <a:avLst/>
            </a:prstGeom>
          </p:spPr>
        </p:pic>
        <p:pic>
          <p:nvPicPr>
            <p:cNvPr id="8" name="Image 1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76263" y="4733925"/>
              <a:ext cx="366713" cy="128588"/>
            </a:xfrm>
            <a:prstGeom prst="rect">
              <a:avLst/>
            </a:prstGeom>
          </p:spPr>
        </p:pic>
      </p:grpSp>
      <p:sp>
        <p:nvSpPr>
          <p:cNvPr id="9" name="Text 5"/>
          <p:cNvSpPr/>
          <p:nvPr/>
        </p:nvSpPr>
        <p:spPr>
          <a:xfrm>
            <a:off x="3122256" y="260762"/>
            <a:ext cx="2745143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kern="0" spc="-50" dirty="0" err="1">
                <a:solidFill>
                  <a:srgbClr val="40B55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Descrição</a:t>
            </a:r>
            <a:r>
              <a:rPr lang="en-US" sz="2250" kern="0" spc="-50" dirty="0">
                <a:solidFill>
                  <a:srgbClr val="40B55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dos dados: </a:t>
            </a:r>
            <a:endParaRPr lang="en-US" sz="2250" dirty="0"/>
          </a:p>
        </p:txBody>
      </p:sp>
      <p:sp>
        <p:nvSpPr>
          <p:cNvPr id="10" name="Text 6"/>
          <p:cNvSpPr/>
          <p:nvPr/>
        </p:nvSpPr>
        <p:spPr>
          <a:xfrm>
            <a:off x="345522" y="3828963"/>
            <a:ext cx="3695700" cy="152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206"/>
              </a:lnSpc>
              <a:buNone/>
            </a:pPr>
            <a:r>
              <a:rPr lang="en-US" sz="900" kern="0" spc="-5" dirty="0">
                <a:solidFill>
                  <a:srgbClr val="40B55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Página 5 : Proporção nacional por Município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345522" y="4021104"/>
            <a:ext cx="3695700" cy="3857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005"/>
              </a:lnSpc>
              <a:buNone/>
            </a:pPr>
            <a:r>
              <a:rPr lang="en-US" sz="750" kern="0" spc="-4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Apresenta a distribuição percentual da produção agrícola por Estado. Os dados permitem comparar o desempenho dos estados em diferentes aspectos da produção agrícola.</a:t>
            </a:r>
            <a:endParaRPr lang="en-US" sz="750" dirty="0"/>
          </a:p>
        </p:txBody>
      </p:sp>
      <p:sp>
        <p:nvSpPr>
          <p:cNvPr id="12" name="Text 8"/>
          <p:cNvSpPr/>
          <p:nvPr/>
        </p:nvSpPr>
        <p:spPr>
          <a:xfrm>
            <a:off x="345522" y="2539441"/>
            <a:ext cx="3695700" cy="152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206"/>
              </a:lnSpc>
              <a:buNone/>
            </a:pPr>
            <a:r>
              <a:rPr lang="en-US" sz="900" kern="0" spc="-5" dirty="0">
                <a:solidFill>
                  <a:srgbClr val="40B55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Página 3 : Projeção de produção kg/he 2024 e 2025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357554" y="2797335"/>
            <a:ext cx="36957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005"/>
              </a:lnSpc>
              <a:buNone/>
            </a:pPr>
            <a:r>
              <a:rPr lang="en-US" sz="750" kern="0" spc="-4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Exibe projeções anuais de produção agrícola para as principais plantações com base na tendência dos anos anteriores.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345522" y="3179622"/>
            <a:ext cx="3695700" cy="152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206"/>
              </a:lnSpc>
              <a:buNone/>
            </a:pPr>
            <a:r>
              <a:rPr lang="en-US" sz="900" kern="0" spc="-5" dirty="0">
                <a:solidFill>
                  <a:srgbClr val="40B55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Página 4 : Proporção nacional por Estado 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345522" y="3419946"/>
            <a:ext cx="36957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005"/>
              </a:lnSpc>
              <a:buNone/>
            </a:pPr>
            <a:r>
              <a:rPr lang="en-US" sz="750" kern="0" spc="-4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Apresenta a distribuição percentual da produção agrícola brasileira por Município, com base em quatro indicadores principais.</a:t>
            </a:r>
            <a:endParaRPr lang="en-US" sz="750" dirty="0"/>
          </a:p>
        </p:txBody>
      </p:sp>
      <p:sp>
        <p:nvSpPr>
          <p:cNvPr id="16" name="Text 12"/>
          <p:cNvSpPr/>
          <p:nvPr/>
        </p:nvSpPr>
        <p:spPr>
          <a:xfrm>
            <a:off x="345522" y="1813908"/>
            <a:ext cx="3838575" cy="152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206"/>
              </a:lnSpc>
              <a:buNone/>
            </a:pPr>
            <a:r>
              <a:rPr lang="en-US" sz="900" kern="0" spc="-5" dirty="0">
                <a:solidFill>
                  <a:srgbClr val="40B55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Página 2: Comparativos regionais e evolução temporal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357554" y="2059522"/>
            <a:ext cx="3838575" cy="3857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005"/>
              </a:lnSpc>
              <a:buNone/>
            </a:pPr>
            <a:r>
              <a:rPr lang="en-US" sz="750" kern="0" spc="-4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Comparações da produção agrícola por cultura, variações entre os anos (2022 e 2023) e distribuição por região do Brasil. Destaques para o valor de produção por plantação, evolução temporal por cultura e total regional</a:t>
            </a:r>
            <a:endParaRPr lang="en-US" sz="750" dirty="0"/>
          </a:p>
        </p:txBody>
      </p:sp>
      <p:sp>
        <p:nvSpPr>
          <p:cNvPr id="18" name="Text 14"/>
          <p:cNvSpPr/>
          <p:nvPr/>
        </p:nvSpPr>
        <p:spPr>
          <a:xfrm>
            <a:off x="345522" y="1163651"/>
            <a:ext cx="3695700" cy="152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206"/>
              </a:lnSpc>
              <a:buNone/>
            </a:pPr>
            <a:r>
              <a:rPr lang="en-US" sz="900" kern="0" spc="-5" dirty="0">
                <a:solidFill>
                  <a:srgbClr val="40B55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Página 1 : Produção e produtividade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345522" y="1368802"/>
            <a:ext cx="3695700" cy="3857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005"/>
              </a:lnSpc>
              <a:buNone/>
            </a:pPr>
            <a:r>
              <a:rPr lang="en-US" sz="750" kern="0" spc="-4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Apresenta indicadores gerais da produção agrícola, distribuição geográfica por município, detalhamento por cultura e ano, e comparação da produtividade média entre 2022 e 2023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28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-9525"/>
            <a:ext cx="1314450" cy="5153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633" y="292409"/>
            <a:ext cx="998191" cy="998191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0F50F3EA-679E-4635-991C-2D40CDDDBDD8}"/>
              </a:ext>
            </a:extLst>
          </p:cNvPr>
          <p:cNvSpPr txBox="1"/>
          <p:nvPr/>
        </p:nvSpPr>
        <p:spPr>
          <a:xfrm>
            <a:off x="374907" y="1870608"/>
            <a:ext cx="7176837" cy="12516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 rtl="0">
              <a:spcBef>
                <a:spcPts val="600"/>
              </a:spcBef>
              <a:spcAft>
                <a:spcPts val="400"/>
              </a:spcAft>
            </a:pPr>
            <a:r>
              <a:rPr lang="pt-BR" sz="900" b="1" i="0" u="none" strike="noStrike" dirty="0">
                <a:solidFill>
                  <a:schemeClr val="accent6"/>
                </a:solidFill>
                <a:latin typeface="Arial" panose="020B0604020202020204" pitchFamily="34" charset="0"/>
              </a:rPr>
              <a:t>S</a:t>
            </a:r>
            <a:r>
              <a:rPr lang="pt-BR" sz="900" b="1" i="0" u="none" strike="noStrike" dirty="0">
                <a:solidFill>
                  <a:schemeClr val="accent6"/>
                </a:solidFill>
                <a:effectLst/>
                <a:latin typeface="Arial" panose="020B0604020202020204" pitchFamily="34" charset="0"/>
              </a:rPr>
              <a:t>IDRA/IBGE – Sistema IBGE de Recuperação Automática </a:t>
            </a:r>
            <a:r>
              <a:rPr lang="pt-BR" sz="900" b="1" i="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 </a:t>
            </a:r>
            <a:br>
              <a:rPr lang="pt-BR" sz="900" b="1" i="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lang="pt-BR" sz="900" b="0" i="0" u="sng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https://sidra.ibge.gov.br</a:t>
            </a:r>
            <a:endParaRPr lang="pt-BR" sz="900" b="0" i="0" u="sng" strike="noStrike" dirty="0"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endParaRPr lang="pt-BR" sz="900" b="1" i="0" u="none" strike="noStrike" dirty="0">
              <a:solidFill>
                <a:schemeClr val="accent6"/>
              </a:solidFill>
              <a:effectLst/>
              <a:latin typeface="Arial" panose="020B0604020202020204" pitchFamily="34" charset="0"/>
            </a:endParaRPr>
          </a:p>
          <a:p>
            <a:r>
              <a:rPr lang="pt-BR" sz="900" b="1" i="0" u="none" strike="noStrike" dirty="0">
                <a:solidFill>
                  <a:schemeClr val="accent6"/>
                </a:solidFill>
                <a:effectLst/>
                <a:latin typeface="Arial" panose="020B0604020202020204" pitchFamily="34" charset="0"/>
              </a:rPr>
              <a:t>IBGE - Divisão Territorial Brasileira:</a:t>
            </a:r>
            <a:br>
              <a:rPr lang="pt-BR" sz="900" b="1" i="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lang="pt-BR" sz="900" b="0" i="0" u="sng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https://www.ibge.gov.br/geociencias/organizacao-do-territorio/divisao-regional/23701-divisao-territorial-brasileira.html</a:t>
            </a:r>
            <a:endParaRPr lang="pt-BR" sz="900" b="0" i="0" u="sng" strike="noStrike" dirty="0"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endParaRPr lang="pt-BR" sz="900" b="0" i="0" u="sng" strike="noStrike" dirty="0">
              <a:solidFill>
                <a:schemeClr val="accent1"/>
              </a:solidFill>
              <a:effectLst/>
              <a:latin typeface="Arial" panose="020B0604020202020204" pitchFamily="34" charset="0"/>
            </a:endParaRPr>
          </a:p>
          <a:p>
            <a:r>
              <a:rPr lang="pt-BR" sz="900" b="1" i="0" u="none" strike="noStrike" dirty="0">
                <a:solidFill>
                  <a:schemeClr val="accent6"/>
                </a:solidFill>
                <a:effectLst/>
                <a:latin typeface="Arial" panose="020B0604020202020204" pitchFamily="34" charset="0"/>
              </a:rPr>
              <a:t>Estudo EMBRAPA: Produtos do Agronegócio Brasileiro:</a:t>
            </a:r>
          </a:p>
          <a:p>
            <a:r>
              <a:rPr lang="pt-BR" sz="900" b="0" i="0" u="sng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https://www.embrapa.br/busca-de-noticias/-/noticia/7575681/top-10-produtos-do-agro</a:t>
            </a:r>
            <a:endParaRPr lang="pt-BR" sz="9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28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0746" y="3929344"/>
            <a:ext cx="1071916" cy="1071916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805D42C5-55C2-40AA-8909-17E8AFF69976}"/>
              </a:ext>
            </a:extLst>
          </p:cNvPr>
          <p:cNvSpPr txBox="1"/>
          <p:nvPr/>
        </p:nvSpPr>
        <p:spPr>
          <a:xfrm>
            <a:off x="634870" y="2026956"/>
            <a:ext cx="25079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>
                <a:solidFill>
                  <a:schemeClr val="bg2"/>
                </a:solidFill>
              </a:rPr>
              <a:t>Obrigada!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8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62" y="-9525"/>
            <a:ext cx="1314450" cy="5153025"/>
          </a:xfrm>
          <a:prstGeom prst="rect">
            <a:avLst/>
          </a:prstGeom>
          <a:solidFill>
            <a:srgbClr val="22956B">
              <a:alpha val="8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-9525"/>
            <a:ext cx="1314450" cy="5153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90488"/>
            <a:ext cx="928688" cy="928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631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424</TotalTime>
  <Words>253</Words>
  <Application>Microsoft Office PowerPoint</Application>
  <PresentationFormat>Apresentação na tela (16:9)</PresentationFormat>
  <Paragraphs>25</Paragraphs>
  <Slides>5</Slides>
  <Notes>5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10" baseType="lpstr">
      <vt:lpstr>Albert Sans</vt:lpstr>
      <vt:lpstr>Arial</vt:lpstr>
      <vt:lpstr>Calibri</vt:lpstr>
      <vt:lpstr>Inter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Zbook</cp:lastModifiedBy>
  <cp:revision>26</cp:revision>
  <dcterms:created xsi:type="dcterms:W3CDTF">2025-06-24T02:13:45Z</dcterms:created>
  <dcterms:modified xsi:type="dcterms:W3CDTF">2025-06-26T06:44:01Z</dcterms:modified>
</cp:coreProperties>
</file>